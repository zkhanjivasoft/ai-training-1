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80" r:id="rId32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notesMaster" Target="notesMasters/notesMaster1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— this is **Lab 1.b**, the hands-on half of Lab 1. By the end you can fix a real bug the disciplined, test-first way with Claude and open a clean PR. Mixed room (junior + senior): we go step by step; seniors, help your neighbors. ~2 hrs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expectations: mostly hands-on. I demo one bug (#5), you fix another (#4), we review together, then a feature if time allows. Note the recap section now also covers HOW to prompt Claude. Keep us honest on timeboxes. ~2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this before anything hands-on (~2 min). Repo: github.com/mike-tajmajer-fullstacklabs/fsl-taskboard-lab (shown top-left). The green 'Use this template → Create a new repository' button (circled in the screenshot) makes their OWN copy — not Fork, not plain Clone. Then the setup script (`./scripts/setup-repo.sh`, or `.ps1` on Windows) seeds the lab labels + backlog issues, since template copies don't inherit issues — gh auth was handled on the tooling slide. Then `npm install` / `npm run reset-db` / `npm run dev` (Node LTS ≥ 20.19; `nvm use` reads .nvmrc). Confirm `npm test` is green, then pick a `lab-1` issue. If anyone's stuck here, pair them before the demo. Tooling itself was installed on the previous slide — this slide is only about the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recap only (~3 min). The taskboard repo already ships a CLAUDE.md, so context is done — we are NOT authoring one today. Confirm everyone can run `npm install`, `npm run reset-db`, `npm run dev`, and `npm test`. Pair up anyone whose environment is broken before we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core mindset (~3 min). 'A bug is a missing test' — the defect slipped through because no test pinned that behavior. Writing the test first makes the fix provable and permanent. For juniors: the failing test is how you and Claude agree on what 'done' means.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spine of the whole class — point back to it during the demo and the exercise. Reproduce → RED → Fix (Plan Mode) → GREEN → Ship. Same five steps for bugs AND features. ~2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we work with Claude (~3 min). Key habit: paste the failing test into Claude and let CLAUDE.md carry conventions; use Plan Mode; READ the diff. Guardrail callout: `server/data/seed.json` is protected by a PreToolUse hook — a block there is expected, not an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'they're the SAME pattern' slide — the one that clears up the confusion (~2 min). Read the table across, row by row: RTCE's Role tucks into Context; Task = Task; Context = Context; and RTCE's Expectations splits into the Claude Code course's Constraints + Verify (the highlighted row). It's ONE shape with two labelings — nobody needs to memorize two frameworks. Then make the SUPERIORITY point: the FSL grouping is better precisely because of that split — it promotes Verify to its own first-class step, so every prompt states HOW Claude proves it's done ('run the tests'), not just a vague 'Expectations'. Both courses call this the highest-leverage habit ('a prompt is a verification strategy'), and it's what makes a fix provable instead of hopeful. Close with where-it-lives: CLAUDE.md carries the durable Role + Context (versioned + shared), so each prompt only carries Task + Constraints + Verify — the standardization goal in prompt 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three habits that make the shape actually work (~2 min): describe symptoms not solutions (say what you see, let Claude diagnose the root cause), @-reference real files (show, don't describe), and end with 'run the tests' (Claude verifies itself). Each card has a taskboard-flavored example. Tell students these three are what separate a prompt that lands first-try from one that needs three rounds.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key idea for juniors and seniors alike (~4 min): there is NO single magic prompt — the same goal has several good styles. Walk the four: explicit (spell it all out), symptom-first (describe what you see, let Claude diagnose), reference-driven (point at an existing test — 'do it like this'), plan-first (ask for the plan/diagnosis before any code). Encourage them to try a couple of styles when they fix Bug #4.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Transition. Tell them: watch the loop end-to-end. I'll switch between these slides and VS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Reproduce first (~4 min). Show the bug live in the running app: search 'FIRST' vs 'First'. Then open `server/src/services/todos.service.ts` → `list()` and show the `includes()` lines. Say the root cause out loud: `includes()` is case-sensitive and neither side is normalized.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Write the failing test live in `todos.service.test.ts`, then `npm test -w server` → RED (~6 min). The two prompt variants on the slide (explicit / symptom-first) are starting points; the fuller set is on the 'four ways' slide. Talking point: 'First fixture todo' should match 'first' but won't today — that red test is our precise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fix (~6 min). In VS Code: enter Plan Mode, hand Claude the failing test, ask for the smallest fix (the two fix-prompt styles are on the slide: minimal vs Plan-Mode). Review the plan, apply, rerun → GREEN, then lint + typecheck. The fix is just lowercasing the query and the compared fields; reinforce reading the diff before accepting.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the loop (~4 min): `git checkout -b fix/case-insensitive-search`, a Conventional Commit, PR 'Closes #5'. Show CI running; require a reviewer. The repo's PR template auto-populates the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 off. Students now fix Bug #4 (solo or pairs), ~40 min. Circulate and coach. Do NOT reveal the root cause — the diagnosis is the exercise. Nudge them to try a different prompt style than I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Brief them (~2 min), then let them work. INSTRUCTOR-ONLY root cause — do not say up front: `stats.service.ts` sets `COMPLETED_STATUS = 'completed'`, but the domain status is `'done'` (see `shared/src/types.ts` and `todosService.complete()`), so the filter never matches → always 0. Nudge them to reproduce and write a failing test before touching the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stuck students here; the starter scaffold and two no-spoiler prompt starters are on the slide (fuller set on the starter card). Gotcha to surface via questions (not answers): the fixture's completed todo (`todo_c`) is dated Jan 2026 — NOT 'this week' — so they must complete a todo *now* to expect a nonzero count. If a test passes immediately, the expectation is wrong. Acceptance: a test that failed first then passes; `npm test -w server` + lint + typecheck green; PR 'Closes #4' + a reviewer.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~20 min. Pull up 2–3 student diffs/PRs and use the prompts. Best moments: compare two different tests for the same bug, and whether Claude's first attempt passed review. Keep hammering 'the test failed first' as the discipline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if time remains (~15 min). Transition: features use the same loop, but the starting point flips from 'reproduce a defect' to 'specify new behavior.'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 conceptual slide for features (~4 min). Bug = behavior exists but is wrong; the test reproduces then pins the correction. Feature = behavior doesn't exist; the test specifies it and fails until built. Same rhythm both ways: test-first → build with Claude → verify → PR.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Concrete small feature: sort by due date. Two prompt starters on the slide (interview/plan-first vs explicit test-first). Teaching point: adding `sort: 'dueDate'` won't even typecheck until you extend `TodoQuery.sort` in `shared/src/types.ts` — the type/spec drives the change. Stretch goal; if time runs out they continue it in office hours / Slack. (The on-slide test sketch omits `page`/`pageSize` for space — the real call needs them.)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Reference/screenshot slide — tell students to grab it. One starter per loop step; they swap in their own file paths. Reiterate the three habits (symptoms, @-reference, end with 'run the tests'). Little talking — point them here during the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 the takeaway (~5 min): the LOOP is the transferable skill, not any one bug. Walk the ship checklist. Point everyone to the #extra-duty-solutions-ai-training Slack channel to ask questions and share their PRs.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One-time install, ideally before lab day (~10 min). macOS column assumes Homebrew, Windows assumes winget (built into Win 10/11) — fallback for both is each tool’s download page. Why each tool: git drives the branch/PR flow; nvm makes `nvm use` match the repo’s .nvmrc; Node floor is LTS 20.19+ because Vite 7 requires it — 20, 22, or 24 LTS all work, odd majors (23) print engine warnings that confuse people; GitHub CLI powers the issue-seeding script and PR flow (`gh auth login` is the step people forget); Claude Code uses the native installer — self-updating and avoids npm -g permission problems on locked-down machines; any editor is fine, the demo narrates from VS Code. Accounts: a GitHub account plus an EDS-provisioned Claude Code seat — have everyone run the VERIFY line and complete a Claude login BEFORE lab day; pair anyone broken at the door rather than during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850605" cy="457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" y="1764792"/>
            <a:ext cx="457200" cy="64008"/>
          </a:xfrm>
          <a:prstGeom prst="rect">
            <a:avLst/>
          </a:prstGeom>
          <a:solidFill>
            <a:srgbClr val="A9B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8138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Arial"/>
              </a:rPr>
              <a:t>Lab 1.b — Fixing Bugs, Test-First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0"/>
            <a:ext cx="79552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CCD9FF"/>
                </a:solidFill>
                <a:latin typeface="Arial"/>
              </a:rPr>
              <a:t>AI-assisted bug fixing with Claude and the FSL playbook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262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A9B7F7"/>
                </a:solidFill>
                <a:latin typeface="Arial"/>
              </a:rPr>
              <a:t>FSL AI Training · TaskBoard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135E"/>
                </a:solidFill>
                <a:latin typeface="Arial"/>
              </a:rPr>
              <a:t>Two hours, hands-on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8046720" cy="457200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03FE8"/>
                </a:solidFill>
                <a:latin typeface="Arial"/>
              </a:rPr>
              <a:t>15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463040"/>
            <a:ext cx="2834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3135E"/>
                </a:solidFill>
                <a:latin typeface="Arial"/>
              </a:rPr>
              <a:t>Recap + the method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463040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34343"/>
                </a:solidFill>
                <a:latin typeface="Arial"/>
              </a:rPr>
              <a:t>Why test-first, the loop, and how to prompt Claude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984247"/>
            <a:ext cx="804672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84247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03FE8"/>
                </a:solidFill>
                <a:latin typeface="Arial"/>
              </a:rPr>
              <a:t>25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1984247"/>
            <a:ext cx="2834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3135E"/>
                </a:solidFill>
                <a:latin typeface="Arial"/>
              </a:rPr>
              <a:t>Demo — Bug #5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984247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34343"/>
                </a:solidFill>
                <a:latin typeface="Arial"/>
              </a:rPr>
              <a:t>Case-sensitive search, fixed live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505454"/>
            <a:ext cx="8046720" cy="457200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505454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03FE8"/>
                </a:solidFill>
                <a:latin typeface="Arial"/>
              </a:rPr>
              <a:t>40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505454"/>
            <a:ext cx="2834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3135E"/>
                </a:solidFill>
                <a:latin typeface="Arial"/>
              </a:rPr>
              <a:t>Your turn — Bug #4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505454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34343"/>
                </a:solidFill>
                <a:latin typeface="Arial"/>
              </a:rPr>
              <a:t>"Completed this week" always 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026661"/>
            <a:ext cx="804672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026661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03FE8"/>
                </a:solidFill>
                <a:latin typeface="Arial"/>
              </a:rPr>
              <a:t>20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026661"/>
            <a:ext cx="2834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3135E"/>
                </a:solidFill>
                <a:latin typeface="Arial"/>
              </a:rPr>
              <a:t>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026661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34343"/>
                </a:solidFill>
                <a:latin typeface="Arial"/>
              </a:rPr>
              <a:t>We compare a few of your fixes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547868"/>
            <a:ext cx="8046720" cy="457200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547868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03FE8"/>
                </a:solidFill>
                <a:latin typeface="Arial"/>
              </a:rPr>
              <a:t>15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3547868"/>
            <a:ext cx="2834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3135E"/>
                </a:solidFill>
                <a:latin typeface="Arial"/>
              </a:rPr>
              <a:t>Feature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3547868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34343"/>
                </a:solidFill>
                <a:latin typeface="Arial"/>
              </a:rPr>
              <a:t>Same rhythm, a new capability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069075"/>
            <a:ext cx="804672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069075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03FE8"/>
                </a:solidFill>
                <a:latin typeface="Arial"/>
              </a:rPr>
              <a:t>5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19" y="4069075"/>
            <a:ext cx="2834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3135E"/>
                </a:solidFill>
                <a:latin typeface="Arial"/>
              </a:rPr>
              <a:t>Wrap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4069075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34343"/>
                </a:solidFill>
                <a:latin typeface="Arial"/>
              </a:rPr>
              <a:t>Checklist + where to get help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1.b — Fixing Bugs, Test-First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135E"/>
                </a:solidFill>
                <a:latin typeface="Arial"/>
              </a:rPr>
              <a:t>Set up the training repo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246120" cy="384048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29718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3135E"/>
                </a:solidFill>
                <a:latin typeface="Consolas"/>
              </a:rPr>
              <a:t>github.com/mike-tajmajer-fullstacklabs/fsl-taskboard-lab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32461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100" b="1">
                <a:solidFill>
                  <a:srgbClr val="403FE8"/>
                </a:solidFill>
                <a:latin typeface="Arial"/>
              </a:rPr>
              <a:t>1.  </a:t>
            </a:r>
            <a:r>
              <a:rPr sz="1100">
                <a:solidFill>
                  <a:srgbClr val="434343"/>
                </a:solidFill>
                <a:latin typeface="Arial"/>
              </a:rPr>
              <a:t>On that repo, click Use this template → Create a new repository (green button, top-right — circled). Your own copy, not a fork.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100" b="1">
                <a:solidFill>
                  <a:srgbClr val="403FE8"/>
                </a:solidFill>
                <a:latin typeface="Arial"/>
              </a:rPr>
              <a:t>2.  </a:t>
            </a:r>
            <a:r>
              <a:rPr sz="1100">
                <a:solidFill>
                  <a:srgbClr val="434343"/>
                </a:solidFill>
                <a:latin typeface="Arial"/>
              </a:rPr>
              <a:t>Clone it, then from the repo root seed the backlog:  ./scripts/setup-repo.sh  (Windows: .\scripts\setup-repo.ps1). Creates the lab labels + issues — gh login done on the previous slide.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100" b="1">
                <a:solidFill>
                  <a:srgbClr val="403FE8"/>
                </a:solidFill>
                <a:latin typeface="Arial"/>
              </a:rPr>
              <a:t>3.  </a:t>
            </a:r>
            <a:r>
              <a:rPr sz="1100">
                <a:solidFill>
                  <a:srgbClr val="434343"/>
                </a:solidFill>
                <a:latin typeface="Arial"/>
              </a:rPr>
              <a:t>Install &amp; run:  npm install · npm run reset-db · npm run dev  (client :5173, API :3001). Node LTS ≥ 20.19 — nvm use reads .nvmrc.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100" b="1">
                <a:solidFill>
                  <a:srgbClr val="403FE8"/>
                </a:solidFill>
                <a:latin typeface="Arial"/>
              </a:rPr>
              <a:t>4.  </a:t>
            </a:r>
            <a:r>
              <a:rPr sz="1100">
                <a:solidFill>
                  <a:srgbClr val="434343"/>
                </a:solidFill>
                <a:latin typeface="Arial"/>
              </a:rPr>
              <a:t>Confirm npm test is green, then pick a lab-1 issue.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13632" y="1399032"/>
            <a:ext cx="4700016" cy="2990088"/>
          </a:xfrm>
          <a:prstGeom prst="rect">
            <a:avLst/>
          </a:prstGeom>
          <a:noFill/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use-this-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1417320"/>
            <a:ext cx="4663440" cy="29286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931920" y="448056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66666"/>
                </a:solidFill>
                <a:latin typeface="Arial"/>
              </a:rPr>
              <a:t>Start from "Use this template" — not Fork or Clone.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1.b — Fixing Bugs, Test-First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RECAP — LAB 1.A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135E"/>
                </a:solidFill>
                <a:latin typeface="Arial"/>
              </a:rPr>
              <a:t>You already have what you need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02920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00" b="1">
                <a:solidFill>
                  <a:srgbClr val="403FE8"/>
                </a:solidFill>
                <a:latin typeface="Arial"/>
              </a:rPr>
              <a:t>•  </a:t>
            </a:r>
            <a:r>
              <a:rPr sz="1200">
                <a:solidFill>
                  <a:srgbClr val="434343"/>
                </a:solidFill>
                <a:latin typeface="Arial"/>
              </a:rPr>
              <a:t>This repo already ships a strong CLAUDE.md — Claude knows the stack, conventions, and commands.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00" b="1">
                <a:solidFill>
                  <a:srgbClr val="403FE8"/>
                </a:solidFill>
                <a:latin typeface="Arial"/>
              </a:rPr>
              <a:t>•  </a:t>
            </a:r>
            <a:r>
              <a:rPr sz="1200">
                <a:solidFill>
                  <a:srgbClr val="434343"/>
                </a:solidFill>
                <a:latin typeface="Arial"/>
              </a:rPr>
              <a:t>You've met Plan Mode — plan first, review the plan, then let Claude build.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00" b="1">
                <a:solidFill>
                  <a:srgbClr val="403FE8"/>
                </a:solidFill>
                <a:latin typeface="Arial"/>
              </a:rPr>
              <a:t>•  </a:t>
            </a:r>
            <a:r>
              <a:rPr sz="1200">
                <a:solidFill>
                  <a:srgbClr val="434343"/>
                </a:solidFill>
                <a:latin typeface="Arial"/>
              </a:rPr>
              <a:t>Today we point those at real bugs in the backlog and ship real PRs.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1554480"/>
            <a:ext cx="2788920" cy="2743200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06440" y="1554480"/>
            <a:ext cx="64008" cy="274320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53328" y="175564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03FE8"/>
                </a:solidFill>
                <a:latin typeface="Arial"/>
              </a:rPr>
              <a:t>THE SHIFT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53328" y="2148840"/>
            <a:ext cx="239572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3135E"/>
                </a:solidFill>
                <a:latin typeface="Arial"/>
              </a:rPr>
              <a:t>Lab 1.a: set up context.
Lab 1.b: use that context to fix defects the disciplined way — test-first, verified, reviewed.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1.b — Fixing Bugs, Test-First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WHY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135E"/>
                </a:solidFill>
                <a:latin typeface="Arial"/>
              </a:rPr>
              <a:t>A bug is a missing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8046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434343"/>
                </a:solidFill>
                <a:latin typeface="Arial"/>
              </a:rPr>
              <a:t>A bug means some behavior was never pinned down by a test. So we write that test first — then fixing it becomes provable, not hopeful.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262432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2624328" cy="32004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100" b="1" i="0">
                <a:solidFill>
                  <a:srgbClr val="13135E"/>
                </a:solidFill>
                <a:latin typeface="Arial"/>
              </a:rPr>
              <a:t>REPRODUCE RELIABLY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63240"/>
            <a:ext cx="2258568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00" b="1">
                <a:solidFill>
                  <a:srgbClr val="403FE8"/>
                </a:solidFill>
                <a:latin typeface="Arial"/>
              </a:rPr>
              <a:t>•  </a:t>
            </a:r>
            <a:r>
              <a:rPr sz="1000">
                <a:solidFill>
                  <a:srgbClr val="434343"/>
                </a:solidFill>
                <a:latin typeface="Arial"/>
              </a:rPr>
              <a:t>Turn "it's broken" into a repeatable, red test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00" b="1">
                <a:solidFill>
                  <a:srgbClr val="403FE8"/>
                </a:solidFill>
                <a:latin typeface="Arial"/>
              </a:rPr>
              <a:t>•  </a:t>
            </a:r>
            <a:r>
              <a:rPr sz="1000">
                <a:solidFill>
                  <a:srgbClr val="434343"/>
                </a:solidFill>
                <a:latin typeface="Arial"/>
              </a:rPr>
              <a:t>No more "works on my machine"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2240280"/>
            <a:ext cx="262432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2240280"/>
            <a:ext cx="2624328" cy="32004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242316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100" b="1" i="0">
                <a:solidFill>
                  <a:srgbClr val="13135E"/>
                </a:solidFill>
                <a:latin typeface="Arial"/>
              </a:rPr>
              <a:t>A PRECISE TARGET FOR CLAUDE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063240"/>
            <a:ext cx="2258568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00" b="1">
                <a:solidFill>
                  <a:srgbClr val="403FE8"/>
                </a:solidFill>
                <a:latin typeface="Arial"/>
              </a:rPr>
              <a:t>•  </a:t>
            </a:r>
            <a:r>
              <a:rPr sz="1000">
                <a:solidFill>
                  <a:srgbClr val="434343"/>
                </a:solidFill>
                <a:latin typeface="Arial"/>
              </a:rPr>
              <a:t>The failing test tells Claude exactly what "fixed" means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00" b="1">
                <a:solidFill>
                  <a:srgbClr val="403FE8"/>
                </a:solidFill>
                <a:latin typeface="Arial"/>
              </a:rPr>
              <a:t>•  </a:t>
            </a:r>
            <a:r>
              <a:rPr sz="1000">
                <a:solidFill>
                  <a:srgbClr val="434343"/>
                </a:solidFill>
                <a:latin typeface="Arial"/>
              </a:rPr>
              <a:t>Less guessing, tighter fixes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2240280"/>
            <a:ext cx="262432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2240280"/>
            <a:ext cx="2624328" cy="32004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242316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100" b="1" i="0">
                <a:solidFill>
                  <a:srgbClr val="13135E"/>
                </a:solidFill>
                <a:latin typeface="Arial"/>
              </a:rPr>
              <a:t>PROOF + NO REGRESSIONS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063240"/>
            <a:ext cx="2258568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00" b="1">
                <a:solidFill>
                  <a:srgbClr val="403FE8"/>
                </a:solidFill>
                <a:latin typeface="Arial"/>
              </a:rPr>
              <a:t>•  </a:t>
            </a:r>
            <a:r>
              <a:rPr sz="1000">
                <a:solidFill>
                  <a:srgbClr val="434343"/>
                </a:solidFill>
                <a:latin typeface="Arial"/>
              </a:rPr>
              <a:t>Green test = objectively fixed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00" b="1">
                <a:solidFill>
                  <a:srgbClr val="403FE8"/>
                </a:solidFill>
                <a:latin typeface="Arial"/>
              </a:rPr>
              <a:t>•  </a:t>
            </a:r>
            <a:r>
              <a:rPr sz="1000">
                <a:solidFill>
                  <a:srgbClr val="434343"/>
                </a:solidFill>
                <a:latin typeface="Arial"/>
              </a:rPr>
              <a:t>The test stays forever, so it can't silently break again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1.b — Fixing Bugs, Test-First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THE 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135E"/>
                </a:solidFill>
                <a:latin typeface="Arial"/>
              </a:rPr>
              <a:t>The test-driven fix loop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03120"/>
            <a:ext cx="1517904" cy="1051560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103120"/>
            <a:ext cx="1517904" cy="64008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49424"/>
            <a:ext cx="15179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403FE8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15184"/>
            <a:ext cx="1335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3135E"/>
                </a:solidFill>
                <a:latin typeface="Arial"/>
              </a:rPr>
              <a:t>Reproduce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80360"/>
            <a:ext cx="13350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666666"/>
                </a:solidFill>
                <a:latin typeface="Arial"/>
              </a:rPr>
              <a:t>understand the defect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2536" y="2450592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403FE8"/>
                </a:solidFill>
                <a:latin typeface="Aria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85416" y="2103120"/>
            <a:ext cx="1517904" cy="1051560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85416" y="2103120"/>
            <a:ext cx="1517904" cy="64008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85416" y="2249424"/>
            <a:ext cx="15179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403FE8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76856" y="2615184"/>
            <a:ext cx="1335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3135E"/>
                </a:solidFill>
                <a:latin typeface="Arial"/>
              </a:rPr>
              <a:t>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76856" y="2880360"/>
            <a:ext cx="13350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666666"/>
                </a:solidFill>
                <a:latin typeface="Arial"/>
              </a:rPr>
              <a:t>write a failing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5032" y="2450592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403FE8"/>
                </a:solidFill>
                <a:latin typeface="Arial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67912" y="2103120"/>
            <a:ext cx="1517904" cy="1051560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67912" y="2103120"/>
            <a:ext cx="1517904" cy="64008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67912" y="2249424"/>
            <a:ext cx="15179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403FE8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59352" y="2615184"/>
            <a:ext cx="1335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3135E"/>
                </a:solidFill>
                <a:latin typeface="Arial"/>
              </a:rPr>
              <a:t>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59352" y="2880360"/>
            <a:ext cx="13350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666666"/>
                </a:solidFill>
                <a:latin typeface="Arial"/>
              </a:rPr>
              <a:t>Claude, in Plan Mode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67528" y="2450592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403FE8"/>
                </a:solidFill>
                <a:latin typeface="Arial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50408" y="2103120"/>
            <a:ext cx="1517904" cy="1051560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50408" y="2103120"/>
            <a:ext cx="1517904" cy="64008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50408" y="2249424"/>
            <a:ext cx="15179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403FE8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41848" y="2615184"/>
            <a:ext cx="1335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3135E"/>
                </a:solidFill>
                <a:latin typeface="Arial"/>
              </a:rPr>
              <a:t>GREEN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41848" y="2880360"/>
            <a:ext cx="13350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666666"/>
                </a:solidFill>
                <a:latin typeface="Arial"/>
              </a:rPr>
              <a:t>test + suite + lint pass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50024" y="2450592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403FE8"/>
                </a:solidFill>
                <a:latin typeface="Arial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32904" y="2103120"/>
            <a:ext cx="1517904" cy="1051560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32904" y="2103120"/>
            <a:ext cx="1517904" cy="64008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2904" y="2249424"/>
            <a:ext cx="15179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403FE8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24344" y="2615184"/>
            <a:ext cx="1335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3135E"/>
                </a:solidFill>
                <a:latin typeface="Arial"/>
              </a:rPr>
              <a:t>Ship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24344" y="2880360"/>
            <a:ext cx="13350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666666"/>
                </a:solidFill>
                <a:latin typeface="Arial"/>
              </a:rPr>
              <a:t>PR + human 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611880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3135E"/>
                </a:solidFill>
                <a:latin typeface="Arial"/>
              </a:rPr>
              <a:t>Same five steps every time — for the demo, your exercise, and (later) a feature.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1.b — Fixing Bugs, Test-First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WORKING WITH CLAUDE + THE FSL PLAYBOOK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135E"/>
                </a:solidFill>
                <a:latin typeface="Arial"/>
              </a:rPr>
              <a:t>Habits that keep fixes safe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3977639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150" b="1">
                <a:solidFill>
                  <a:srgbClr val="403FE8"/>
                </a:solidFill>
                <a:latin typeface="Arial"/>
              </a:rPr>
              <a:t>•  </a:t>
            </a:r>
            <a:r>
              <a:rPr sz="1150">
                <a:solidFill>
                  <a:srgbClr val="434343"/>
                </a:solidFill>
                <a:latin typeface="Arial"/>
              </a:rPr>
              <a:t>Feed Claude the failing test + let CLAUDE.md carry the conventions.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150" b="1">
                <a:solidFill>
                  <a:srgbClr val="403FE8"/>
                </a:solidFill>
                <a:latin typeface="Arial"/>
              </a:rPr>
              <a:t>•  </a:t>
            </a:r>
            <a:r>
              <a:rPr sz="1150">
                <a:solidFill>
                  <a:srgbClr val="434343"/>
                </a:solidFill>
                <a:latin typeface="Arial"/>
              </a:rPr>
              <a:t>Plan Mode first — review the plan before any code changes.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150" b="1">
                <a:solidFill>
                  <a:srgbClr val="403FE8"/>
                </a:solidFill>
                <a:latin typeface="Arial"/>
              </a:rPr>
              <a:t>•  </a:t>
            </a:r>
            <a:r>
              <a:rPr sz="1150">
                <a:solidFill>
                  <a:srgbClr val="434343"/>
                </a:solidFill>
                <a:latin typeface="Arial"/>
              </a:rPr>
              <a:t>Don't accept blindly — you own the diff; read it and course-correct.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1508760"/>
            <a:ext cx="38862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150" b="1">
                <a:solidFill>
                  <a:srgbClr val="403FE8"/>
                </a:solidFill>
                <a:latin typeface="Arial"/>
              </a:rPr>
              <a:t>•  </a:t>
            </a:r>
            <a:r>
              <a:rPr sz="1150">
                <a:solidFill>
                  <a:srgbClr val="434343"/>
                </a:solidFill>
                <a:latin typeface="Arial"/>
              </a:rPr>
              <a:t>Keep the guardrails — never touch seed.json (a hook blocks it).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150" b="1">
                <a:solidFill>
                  <a:srgbClr val="403FE8"/>
                </a:solidFill>
                <a:latin typeface="Arial"/>
              </a:rPr>
              <a:t>•  </a:t>
            </a:r>
            <a:r>
              <a:rPr sz="1150">
                <a:solidFill>
                  <a:srgbClr val="434343"/>
                </a:solidFill>
                <a:latin typeface="Arial"/>
              </a:rPr>
              <a:t>Green means green — npm test, lint, and typecheck all pass.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150" b="1">
                <a:solidFill>
                  <a:srgbClr val="403FE8"/>
                </a:solidFill>
                <a:latin typeface="Arial"/>
              </a:rPr>
              <a:t>•  </a:t>
            </a:r>
            <a:r>
              <a:rPr sz="1150">
                <a:solidFill>
                  <a:srgbClr val="434343"/>
                </a:solidFill>
                <a:latin typeface="Arial"/>
              </a:rPr>
              <a:t>Ship it right — branch fix/&lt;slug&gt;, PR "Closes #N", a human reviewer, CI green.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1.b — Fixing Bugs, Test-First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PROMPTING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3135E"/>
                </a:solidFill>
                <a:latin typeface="Arial"/>
              </a:rPr>
              <a:t>RTCE and the FSL pattern: one shape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8046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34343"/>
                </a:solidFill>
                <a:latin typeface="Arial"/>
              </a:rPr>
              <a:t>The two courses teach it under different names — the same four ideas. Read across: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72768"/>
            <a:ext cx="8046720" cy="347472"/>
          </a:xfrm>
          <a:prstGeom prst="roundRect">
            <a:avLst>
              <a:gd name="adj" fmla="val 6000"/>
            </a:avLst>
          </a:prstGeom>
          <a:solidFill>
            <a:srgbClr val="131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18488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rial"/>
              </a:rPr>
              <a:t>RTCE (Ag. Eng.)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618488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rial"/>
              </a:rPr>
              <a:t>FSL / Claude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618488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rial"/>
              </a:rPr>
              <a:t>What you actually write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38528"/>
            <a:ext cx="8046720" cy="438912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938528"/>
            <a:ext cx="16459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3135E"/>
                </a:solidFill>
                <a:latin typeface="Arial"/>
              </a:rPr>
              <a:t>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1938528"/>
            <a:ext cx="21945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03FE8"/>
                </a:solidFill>
                <a:latin typeface="Arial"/>
              </a:rPr>
              <a:t>→ part of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1938528"/>
            <a:ext cx="37947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34343"/>
                </a:solidFill>
                <a:latin typeface="Arial"/>
              </a:rPr>
              <a:t>"You're in the TaskBoard Express API" — usually already in CLAUDE.md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395728"/>
            <a:ext cx="8046720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395728"/>
            <a:ext cx="16459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3135E"/>
                </a:solidFill>
                <a:latin typeface="Arial"/>
              </a:rPr>
              <a:t>Task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2395728"/>
            <a:ext cx="21945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03FE8"/>
                </a:solidFill>
                <a:latin typeface="Arial"/>
              </a:rPr>
              <a:t>=  Task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395728"/>
            <a:ext cx="37947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34343"/>
                </a:solidFill>
                <a:latin typeface="Arial"/>
              </a:rPr>
              <a:t>"Add a failing test for case-insensitive search"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852928"/>
            <a:ext cx="8046720" cy="438912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852928"/>
            <a:ext cx="16459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3135E"/>
                </a:solidFill>
                <a:latin typeface="Arial"/>
              </a:rPr>
              <a:t>Context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2852928"/>
            <a:ext cx="21945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03FE8"/>
                </a:solidFill>
                <a:latin typeface="Arial"/>
              </a:rPr>
              <a:t>=  Context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2852928"/>
            <a:ext cx="37947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34343"/>
                </a:solidFill>
                <a:latin typeface="Arial"/>
              </a:rPr>
              <a:t>"@server/src/services/todos.service.ts; use makeTestDb"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310128"/>
            <a:ext cx="8046720" cy="438912"/>
          </a:xfrm>
          <a:prstGeom prst="roundRect">
            <a:avLst>
              <a:gd name="adj" fmla="val 6000"/>
            </a:avLst>
          </a:prstGeom>
          <a:solidFill>
            <a:srgbClr val="CCD9FF"/>
          </a:solidFill>
          <a:ln w="15875">
            <a:solidFill>
              <a:srgbClr val="403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310128"/>
            <a:ext cx="16459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3135E"/>
                </a:solidFill>
                <a:latin typeface="Arial"/>
              </a:rPr>
              <a:t>Expectations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3310128"/>
            <a:ext cx="21945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03FE8"/>
                </a:solidFill>
                <a:latin typeface="Arial"/>
              </a:rPr>
              <a:t>→ Constraints + Verify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3310128"/>
            <a:ext cx="37947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34343"/>
                </a:solidFill>
                <a:latin typeface="Arial"/>
              </a:rPr>
              <a:t>"don't refactor; then run npm test -w server"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840480"/>
            <a:ext cx="8046720" cy="868680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3840480"/>
            <a:ext cx="64008" cy="86868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3913632"/>
            <a:ext cx="76809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950" b="1" i="0">
                <a:solidFill>
                  <a:srgbClr val="13135E"/>
                </a:solidFill>
                <a:latin typeface="Arial"/>
              </a:rPr>
              <a:t>Why the FSL grouping wins: it pulls Verify out of "Expectations" as its own step — so every prompt says HOW Claude proves it's done ("run the tests"), not just what you hoped for. That's the habit that makes a fix provable.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443984"/>
            <a:ext cx="7680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1">
                <a:solidFill>
                  <a:srgbClr val="666666"/>
                </a:solidFill>
                <a:latin typeface="Arial"/>
              </a:rPr>
              <a:t>Where it lives: CLAUDE.md holds Role + Context (shared)  ·  your prompt holds Task + Constraints + Verify.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1.b — Fixing Bugs, Test-First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PROMPTING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135E"/>
                </a:solidFill>
                <a:latin typeface="Arial"/>
              </a:rPr>
              <a:t>Three habits that make it 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2624328" cy="2514600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2624328" cy="54864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2331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100" b="1" i="0">
                <a:solidFill>
                  <a:srgbClr val="13135E"/>
                </a:solidFill>
                <a:latin typeface="Arial"/>
              </a:rPr>
              <a:t>DESCRIBE SYMPTOMS, NOT SOLUTIONS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42032"/>
            <a:ext cx="228600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000" b="1">
                <a:solidFill>
                  <a:srgbClr val="403FE8"/>
                </a:solidFill>
                <a:latin typeface="Arial"/>
              </a:rPr>
              <a:t>•  </a:t>
            </a:r>
            <a:r>
              <a:rPr sz="1000">
                <a:solidFill>
                  <a:srgbClr val="434343"/>
                </a:solidFill>
                <a:latin typeface="Arial"/>
              </a:rPr>
              <a:t>Say what you observe, not your diagnosis.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000" b="1">
                <a:solidFill>
                  <a:srgbClr val="403FE8"/>
                </a:solidFill>
                <a:latin typeface="Arial"/>
              </a:rPr>
              <a:t>•  </a:t>
            </a:r>
            <a:r>
              <a:rPr sz="1000">
                <a:solidFill>
                  <a:srgbClr val="434343"/>
                </a:solidFill>
                <a:latin typeface="Arial"/>
              </a:rPr>
              <a:t>"Search 'FIRST' finds nothing" — let Claude find the cause.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554480"/>
            <a:ext cx="2624328" cy="2514600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554480"/>
            <a:ext cx="2624328" cy="54864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783080"/>
            <a:ext cx="2331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100" b="1" i="0">
                <a:solidFill>
                  <a:srgbClr val="13135E"/>
                </a:solidFill>
                <a:latin typeface="Arial"/>
              </a:rPr>
              <a:t>POINT AT REAL FILES WITH @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542032"/>
            <a:ext cx="228600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000" b="1">
                <a:solidFill>
                  <a:srgbClr val="403FE8"/>
                </a:solidFill>
                <a:latin typeface="Arial"/>
              </a:rPr>
              <a:t>•  </a:t>
            </a:r>
            <a:r>
              <a:rPr sz="1000">
                <a:solidFill>
                  <a:srgbClr val="434343"/>
                </a:solidFill>
                <a:latin typeface="Arial"/>
              </a:rPr>
              <a:t>Show, don't describe.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000" b="1">
                <a:solidFill>
                  <a:srgbClr val="403FE8"/>
                </a:solidFill>
                <a:latin typeface="Arial"/>
              </a:rPr>
              <a:t>•  </a:t>
            </a:r>
            <a:r>
              <a:rPr sz="1000">
                <a:solidFill>
                  <a:srgbClr val="434343"/>
                </a:solidFill>
                <a:latin typeface="Arial"/>
              </a:rPr>
              <a:t>"@server/src/services/todos.service.ts" beats a paraphrase.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1554480"/>
            <a:ext cx="2624328" cy="2514600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554480"/>
            <a:ext cx="2624328" cy="54864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783080"/>
            <a:ext cx="2331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100" b="1" i="0">
                <a:solidFill>
                  <a:srgbClr val="13135E"/>
                </a:solidFill>
                <a:latin typeface="Arial"/>
              </a:rPr>
              <a:t>END WITH "RUN THE TESTS"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542032"/>
            <a:ext cx="228600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000" b="1">
                <a:solidFill>
                  <a:srgbClr val="403FE8"/>
                </a:solidFill>
                <a:latin typeface="Arial"/>
              </a:rPr>
              <a:t>•  </a:t>
            </a:r>
            <a:r>
              <a:rPr sz="1000">
                <a:solidFill>
                  <a:srgbClr val="434343"/>
                </a:solidFill>
                <a:latin typeface="Arial"/>
              </a:rPr>
              <a:t>Make Claude verify its own work.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000" b="1">
                <a:solidFill>
                  <a:srgbClr val="403FE8"/>
                </a:solidFill>
                <a:latin typeface="Arial"/>
              </a:rPr>
              <a:t>•  </a:t>
            </a:r>
            <a:r>
              <a:rPr sz="1000">
                <a:solidFill>
                  <a:srgbClr val="434343"/>
                </a:solidFill>
                <a:latin typeface="Arial"/>
              </a:rPr>
              <a:t>"…then run npm test -w server and fix any failures."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251960"/>
            <a:ext cx="8046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403FE8"/>
                </a:solidFill>
                <a:latin typeface="Arial"/>
              </a:rPr>
              <a:t>These three turn the four-part shape into prompts that land the first time.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1.b — Fixing Bugs, Test-First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PROMPTING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135E"/>
                </a:solidFill>
                <a:latin typeface="Arial"/>
              </a:rPr>
              <a:t>Same goal, four ways to 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8046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34343"/>
                </a:solidFill>
                <a:latin typeface="Arial"/>
              </a:rPr>
              <a:t>Goal: a failing test that proves search is case-sensitive. All four are good — pick what fits what you already know.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3977639" cy="1371600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50292" cy="137160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73936"/>
            <a:ext cx="368503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403FE8"/>
                </a:solidFill>
                <a:latin typeface="Arial"/>
              </a:rPr>
              <a:t>EXPLICIT (CONTEXT · TASK · CONSTRAINTS · VERIFY)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93392"/>
            <a:ext cx="3648455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434343"/>
                </a:solidFill>
                <a:latin typeface="Arial"/>
              </a:rPr>
              <a:t>In @server/src/services/todos.service.ts, list() search is case-sensitive. Add a Vitest test (todos.service.test.ts, makeTestDb) that searches q:'first' and expects todo_a; run npm test -w server and show it fail.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1691640"/>
            <a:ext cx="3977639" cy="1371600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17720" y="1691640"/>
            <a:ext cx="50292" cy="137160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1773936"/>
            <a:ext cx="368503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403FE8"/>
                </a:solidFill>
                <a:latin typeface="Arial"/>
              </a:rPr>
              <a:t>SYMPTOM-FIRST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993392"/>
            <a:ext cx="3648455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434343"/>
                </a:solidFill>
                <a:latin typeface="Arial"/>
              </a:rPr>
              <a:t>Searching 'FIRST' finds nothing but 'First' works. Investigate list() in @server/src/services/todos.service.ts, then write a failing test that captures the correct case-insensitive behavior.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127248"/>
            <a:ext cx="3977639" cy="1371600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127248"/>
            <a:ext cx="50292" cy="137160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209544"/>
            <a:ext cx="368503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403FE8"/>
                </a:solidFill>
                <a:latin typeface="Arial"/>
              </a:rPr>
              <a:t>REFERENCE-DRIVEN (SHOW, DON'T DESCRIBE)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429000"/>
            <a:ext cx="3648455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434343"/>
                </a:solidFill>
                <a:latin typeface="Arial"/>
              </a:rPr>
              <a:t>Follow the makeTestDb pattern in @server/src/services/todos.service.test.ts. Add a search test proving search should match regardless of case; run npm test -w server.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17720" y="3127248"/>
            <a:ext cx="3977639" cy="1371600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17720" y="3127248"/>
            <a:ext cx="50292" cy="137160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0600" y="3209544"/>
            <a:ext cx="368503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403FE8"/>
                </a:solidFill>
                <a:latin typeface="Arial"/>
              </a:rPr>
              <a:t>PLAN-FIRST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3429000"/>
            <a:ext cx="3648455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434343"/>
                </a:solidFill>
                <a:latin typeface="Arial"/>
              </a:rPr>
              <a:t>Before any code: read list() and tell me why 'first' misses 'First fixture todo', and the failing test you'd add. I'll confirm, then you write 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572000"/>
            <a:ext cx="8046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403FE8"/>
                </a:solidFill>
                <a:latin typeface="Arial"/>
              </a:rPr>
              <a:t>All four produce the same red test — different roads for how much you already know.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1.b — Fixing Bugs, Test-First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850605" cy="457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" y="1993392"/>
            <a:ext cx="457200" cy="64008"/>
          </a:xfrm>
          <a:prstGeom prst="rect">
            <a:avLst/>
          </a:prstGeom>
          <a:solidFill>
            <a:srgbClr val="A9B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8138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Arial"/>
              </a:rPr>
              <a:t>Demo — Bug #5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63240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CD9FF"/>
                </a:solidFill>
                <a:latin typeface="Arial"/>
              </a:rPr>
              <a:t>"Todo search is case-sensitive"  ·  watch the loop end to end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REPRODUCE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135E"/>
                </a:solidFill>
                <a:latin typeface="Arial"/>
              </a:rPr>
              <a:t>What's actually wrong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3977639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100" b="1">
                <a:solidFill>
                  <a:srgbClr val="403FE8"/>
                </a:solidFill>
                <a:latin typeface="Arial"/>
              </a:rPr>
              <a:t>•  </a:t>
            </a:r>
            <a:r>
              <a:rPr sz="1100">
                <a:solidFill>
                  <a:srgbClr val="434343"/>
                </a:solidFill>
                <a:latin typeface="Arial"/>
              </a:rPr>
              <a:t>Symptom: searching "FIRST" finds nothing, but "First" does.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100" b="1">
                <a:solidFill>
                  <a:srgbClr val="403FE8"/>
                </a:solidFill>
                <a:latin typeface="Arial"/>
              </a:rPr>
              <a:t>•  </a:t>
            </a:r>
            <a:r>
              <a:rPr sz="1100">
                <a:solidFill>
                  <a:srgbClr val="434343"/>
                </a:solidFill>
                <a:latin typeface="Arial"/>
              </a:rPr>
              <a:t>Lives server-side: todos.service.ts → list().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100" b="1">
                <a:solidFill>
                  <a:srgbClr val="403FE8"/>
                </a:solidFill>
                <a:latin typeface="Arial"/>
              </a:rPr>
              <a:t>•  </a:t>
            </a:r>
            <a:r>
              <a:rPr sz="1100">
                <a:solidFill>
                  <a:srgbClr val="434343"/>
                </a:solidFill>
                <a:latin typeface="Arial"/>
              </a:rPr>
              <a:t>Root cause: includes() is case-sensitive and nothing is normalized.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146304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03FE8"/>
                </a:solidFill>
                <a:latin typeface="Arial"/>
              </a:rPr>
              <a:t>THE CODE TODAY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1783080"/>
            <a:ext cx="3886200" cy="1600200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09160" y="1783080"/>
            <a:ext cx="54864" cy="160020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10328" y="1901952"/>
            <a:ext cx="3520440" cy="1362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434343"/>
                </a:solidFill>
                <a:latin typeface="Consolas"/>
              </a:rPr>
              <a:t>if (query.q)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50" b="1">
                <a:solidFill>
                  <a:srgbClr val="B42A2A"/>
                </a:solidFill>
                <a:latin typeface="Consolas"/>
              </a:rPr>
              <a:t>  const q = query.q;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434343"/>
                </a:solidFill>
                <a:latin typeface="Consolas"/>
              </a:rPr>
              <a:t>  todos = todos.filter((t) =&gt;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50" b="1">
                <a:solidFill>
                  <a:srgbClr val="B42A2A"/>
                </a:solidFill>
                <a:latin typeface="Consolas"/>
              </a:rPr>
              <a:t>    t.title.includes(q) ||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50" b="1">
                <a:solidFill>
                  <a:srgbClr val="B42A2A"/>
                </a:solidFill>
                <a:latin typeface="Consolas"/>
              </a:rPr>
              <a:t>    (t.notes ?? '').includes(q));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50" b="0">
                <a:solidFill>
                  <a:srgbClr val="434343"/>
                </a:solidFill>
                <a:latin typeface="Consolas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00400"/>
            <a:ext cx="8046720" cy="640080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200400"/>
            <a:ext cx="64008" cy="64008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291840"/>
            <a:ext cx="7680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3135E"/>
                </a:solidFill>
                <a:latin typeface="Arial"/>
              </a:rPr>
              <a:t>First we make the bug repeatable as a test — then the fix is provable.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1.b — Fixing Bugs, Test-First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135E"/>
                </a:solidFill>
                <a:latin typeface="Arial"/>
              </a:rPr>
              <a:t>Write the failing test first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4937760" cy="3063240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4864" cy="306324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536192"/>
            <a:ext cx="4572000" cy="2825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Consolas"/>
              </a:rPr>
              <a:t>// server/src/services/todos.service.test.ts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import { afterEach, beforeEach, describe,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  expect, it } from 'vitest';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import { todosService } from './todos.service';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import { makeTestDb } from '../testing/helpers';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/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describe('list — search', () =&gt;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  let db: ReturnType&lt;typeof makeTestDb&gt;;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  beforeEach(() =&gt; { db = makeTestDb(); });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  afterEach(() =&gt; db.cleanup());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  it('matches case-insensitively', () =&gt;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    const { todos } = todosService.list({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      q: 'first', sort: 'createdAt',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      page: 1, pageSize: 20 });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1">
                <a:solidFill>
                  <a:srgbClr val="403FE8"/>
                </a:solidFill>
                <a:latin typeface="Consolas"/>
              </a:rPr>
              <a:t>    expect(todos.map(t =&gt; t.id))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1">
                <a:solidFill>
                  <a:srgbClr val="403FE8"/>
                </a:solidFill>
                <a:latin typeface="Consolas"/>
              </a:rPr>
              <a:t>      .toContain('todo_a');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  }); });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3560" y="1417320"/>
            <a:ext cx="2971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03FE8"/>
                </a:solidFill>
                <a:latin typeface="Arial"/>
              </a:rPr>
              <a:t>WHY IT'S 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1737360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13135E"/>
                </a:solidFill>
                <a:latin typeface="Arial"/>
              </a:rPr>
              <a:t>"First fixture todo" won't match lowercase "first" today — so the test fails. Now you have a precise target.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23560" y="2542032"/>
            <a:ext cx="2971800" cy="914400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23560" y="2542032"/>
            <a:ext cx="50292" cy="91440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06440" y="2624328"/>
            <a:ext cx="26791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403FE8"/>
                </a:solidFill>
                <a:latin typeface="Arial"/>
              </a:rPr>
              <a:t>TRY — EXPLICIT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2843784"/>
            <a:ext cx="2642616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434343"/>
                </a:solidFill>
                <a:latin typeface="Arial"/>
              </a:rPr>
              <a:t>Add a Vitest test (makeTestDb) that searches q:'first', expects todo_a; run npm test -w server.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60" y="3520440"/>
            <a:ext cx="2971800" cy="914400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23560" y="3520440"/>
            <a:ext cx="50292" cy="91440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06440" y="3602736"/>
            <a:ext cx="26791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403FE8"/>
                </a:solidFill>
                <a:latin typeface="Arial"/>
              </a:rPr>
              <a:t>OR — SYMPTOM-FIRST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3822192"/>
            <a:ext cx="2642616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434343"/>
                </a:solidFill>
                <a:latin typeface="Arial"/>
              </a:rPr>
              <a:t>'FIRST' finds nothing but 'First' works — investigate list() and write a failing test.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1.b — Fixing Bugs, Test-First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GREEN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135E"/>
                </a:solidFill>
                <a:latin typeface="Arial"/>
              </a:rPr>
              <a:t>The fix — lowercase both sides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4892040" cy="2286000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54864" cy="228600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581912"/>
            <a:ext cx="4526280" cy="2048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Consolas"/>
              </a:rPr>
              <a:t>// todos.service.ts — list()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B42A2A"/>
                </a:solidFill>
                <a:latin typeface="Consolas"/>
              </a:rPr>
              <a:t>- const q = query.q;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b="1">
                <a:solidFill>
                  <a:srgbClr val="1B7F4B"/>
                </a:solidFill>
                <a:latin typeface="Consolas"/>
              </a:rPr>
              <a:t>+ const q = query.q.toLowerCase();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434343"/>
                </a:solidFill>
                <a:latin typeface="Consolas"/>
              </a:rPr>
              <a:t>  todos = todos.filter((t) =&gt;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B42A2A"/>
                </a:solidFill>
                <a:latin typeface="Consolas"/>
              </a:rPr>
              <a:t>-   t.title.includes(q) ||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B42A2A"/>
                </a:solidFill>
                <a:latin typeface="Consolas"/>
              </a:rPr>
              <a:t>-   (t.notes ?? '').includes(q));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b="1">
                <a:solidFill>
                  <a:srgbClr val="1B7F4B"/>
                </a:solidFill>
                <a:latin typeface="Consolas"/>
              </a:rPr>
              <a:t>+   t.title.toLowerCase().includes(q) ||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b="1">
                <a:solidFill>
                  <a:srgbClr val="1B7F4B"/>
                </a:solidFill>
                <a:latin typeface="Consolas"/>
              </a:rPr>
              <a:t>+   (t.notes ?? '').toLowerCase()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900" b="1">
                <a:solidFill>
                  <a:srgbClr val="1B7F4B"/>
                </a:solidFill>
                <a:latin typeface="Consolas"/>
              </a:rPr>
              <a:t>+     .includes(q));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1463040"/>
            <a:ext cx="2971800" cy="2286000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23560" y="1463040"/>
            <a:ext cx="64008" cy="228600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70448" y="16459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03FE8"/>
                </a:solidFill>
                <a:latin typeface="Arial"/>
              </a:rPr>
              <a:t>VERIFY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2029968"/>
            <a:ext cx="25603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50" b="1">
                <a:solidFill>
                  <a:srgbClr val="403FE8"/>
                </a:solidFill>
                <a:latin typeface="Arial"/>
              </a:rPr>
              <a:t>•  </a:t>
            </a:r>
            <a:r>
              <a:rPr sz="1050">
                <a:solidFill>
                  <a:srgbClr val="434343"/>
                </a:solidFill>
                <a:latin typeface="Arial"/>
              </a:rPr>
              <a:t>npm test -w server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50" b="1">
                <a:solidFill>
                  <a:srgbClr val="403FE8"/>
                </a:solidFill>
                <a:latin typeface="Arial"/>
              </a:rPr>
              <a:t>•  </a:t>
            </a:r>
            <a:r>
              <a:rPr sz="1050">
                <a:solidFill>
                  <a:srgbClr val="434343"/>
                </a:solidFill>
                <a:latin typeface="Arial"/>
              </a:rPr>
              <a:t>npm run lint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50" b="1">
                <a:solidFill>
                  <a:srgbClr val="403FE8"/>
                </a:solidFill>
                <a:latin typeface="Arial"/>
              </a:rPr>
              <a:t>•  </a:t>
            </a:r>
            <a:r>
              <a:rPr sz="1050">
                <a:solidFill>
                  <a:srgbClr val="434343"/>
                </a:solidFill>
                <a:latin typeface="Arial"/>
              </a:rPr>
              <a:t>npm run typecheck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50" b="1">
                <a:solidFill>
                  <a:srgbClr val="403FE8"/>
                </a:solidFill>
                <a:latin typeface="Arial"/>
              </a:rPr>
              <a:t>•  </a:t>
            </a:r>
            <a:r>
              <a:rPr sz="1050">
                <a:solidFill>
                  <a:srgbClr val="434343"/>
                </a:solidFill>
                <a:latin typeface="Arial"/>
              </a:rPr>
              <a:t>All green → the bug is fixed.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86200"/>
            <a:ext cx="3977639" cy="749808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886200"/>
            <a:ext cx="50292" cy="749808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968496"/>
            <a:ext cx="368503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403FE8"/>
                </a:solidFill>
                <a:latin typeface="Arial"/>
              </a:rPr>
              <a:t>MINIMAL FIX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87952"/>
            <a:ext cx="3648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434343"/>
                </a:solidFill>
                <a:latin typeface="Arial"/>
              </a:rPr>
              <a:t>Make the minimal change to pass the failing test — don't refactor anything else. Then run npm test -w server.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7720" y="3886200"/>
            <a:ext cx="3977639" cy="749808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17720" y="3886200"/>
            <a:ext cx="50292" cy="749808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600" y="3968496"/>
            <a:ext cx="368503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403FE8"/>
                </a:solidFill>
                <a:latin typeface="Arial"/>
              </a:rPr>
              <a:t>PLAN MODE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4187952"/>
            <a:ext cx="3648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434343"/>
                </a:solidFill>
                <a:latin typeface="Arial"/>
              </a:rPr>
              <a:t>In Plan Mode: propose the smallest fix to list(); show me the plan before editing.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1.b — Fixing Bugs, Test-First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SHIP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135E"/>
                </a:solidFill>
                <a:latin typeface="Arial"/>
              </a:rPr>
              <a:t>From green test to merged PR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1206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150" b="1">
                <a:solidFill>
                  <a:srgbClr val="403FE8"/>
                </a:solidFill>
                <a:latin typeface="Arial"/>
              </a:rPr>
              <a:t>1.  </a:t>
            </a:r>
            <a:r>
              <a:rPr sz="1150">
                <a:solidFill>
                  <a:srgbClr val="434343"/>
                </a:solidFill>
                <a:latin typeface="Arial"/>
              </a:rPr>
              <a:t>Branch:  git checkout -b fix/case-insensitive-search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150" b="1">
                <a:solidFill>
                  <a:srgbClr val="403FE8"/>
                </a:solidFill>
                <a:latin typeface="Arial"/>
              </a:rPr>
              <a:t>2.  </a:t>
            </a:r>
            <a:r>
              <a:rPr sz="1150">
                <a:solidFill>
                  <a:srgbClr val="434343"/>
                </a:solidFill>
                <a:latin typeface="Arial"/>
              </a:rPr>
              <a:t>Commit (Conventional):  fix: make todo search case-insensitive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150" b="1">
                <a:solidFill>
                  <a:srgbClr val="403FE8"/>
                </a:solidFill>
                <a:latin typeface="Arial"/>
              </a:rPr>
              <a:t>3.  </a:t>
            </a:r>
            <a:r>
              <a:rPr sz="1150">
                <a:solidFill>
                  <a:srgbClr val="434343"/>
                </a:solidFill>
                <a:latin typeface="Arial"/>
              </a:rPr>
              <a:t>Open a PR — the template links the issue with "Closes #5".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150" b="1">
                <a:solidFill>
                  <a:srgbClr val="403FE8"/>
                </a:solidFill>
                <a:latin typeface="Arial"/>
              </a:rPr>
              <a:t>4.  </a:t>
            </a:r>
            <a:r>
              <a:rPr sz="1150">
                <a:solidFill>
                  <a:srgbClr val="434343"/>
                </a:solidFill>
                <a:latin typeface="Arial"/>
              </a:rPr>
              <a:t>CI runs lint + typecheck + tests; it must be green.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150" b="1">
                <a:solidFill>
                  <a:srgbClr val="403FE8"/>
                </a:solidFill>
                <a:latin typeface="Arial"/>
              </a:rPr>
              <a:t>5.  </a:t>
            </a:r>
            <a:r>
              <a:rPr sz="1150">
                <a:solidFill>
                  <a:srgbClr val="434343"/>
                </a:solidFill>
                <a:latin typeface="Arial"/>
              </a:rPr>
              <a:t>Get one human reviewer before merge.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554480"/>
            <a:ext cx="2697480" cy="2743200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97880" y="1554480"/>
            <a:ext cx="64008" cy="274320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44768" y="173736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03FE8"/>
                </a:solidFill>
                <a:latin typeface="Arial"/>
              </a:rPr>
              <a:t>DONE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44768" y="2121408"/>
            <a:ext cx="22860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050" b="1">
                <a:solidFill>
                  <a:srgbClr val="403FE8"/>
                </a:solidFill>
                <a:latin typeface="Arial"/>
              </a:rPr>
              <a:t>•  </a:t>
            </a:r>
            <a:r>
              <a:rPr sz="1050">
                <a:solidFill>
                  <a:srgbClr val="434343"/>
                </a:solidFill>
                <a:latin typeface="Arial"/>
              </a:rPr>
              <a:t>New test added + passing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050" b="1">
                <a:solidFill>
                  <a:srgbClr val="403FE8"/>
                </a:solidFill>
                <a:latin typeface="Arial"/>
              </a:rPr>
              <a:t>•  </a:t>
            </a:r>
            <a:r>
              <a:rPr sz="1050">
                <a:solidFill>
                  <a:srgbClr val="434343"/>
                </a:solidFill>
                <a:latin typeface="Arial"/>
              </a:rPr>
              <a:t>Full suite green in CI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050" b="1">
                <a:solidFill>
                  <a:srgbClr val="403FE8"/>
                </a:solidFill>
                <a:latin typeface="Arial"/>
              </a:rPr>
              <a:t>•  </a:t>
            </a:r>
            <a:r>
              <a:rPr sz="1050">
                <a:solidFill>
                  <a:srgbClr val="434343"/>
                </a:solidFill>
                <a:latin typeface="Arial"/>
              </a:rPr>
              <a:t>PR links #5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050" b="1">
                <a:solidFill>
                  <a:srgbClr val="403FE8"/>
                </a:solidFill>
                <a:latin typeface="Arial"/>
              </a:rPr>
              <a:t>•  </a:t>
            </a:r>
            <a:r>
              <a:rPr sz="1050">
                <a:solidFill>
                  <a:srgbClr val="434343"/>
                </a:solidFill>
                <a:latin typeface="Arial"/>
              </a:rPr>
              <a:t>Reviewed by a teammate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1.b — Fixing Bugs, Test-First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850605" cy="457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" y="1901952"/>
            <a:ext cx="457200" cy="64008"/>
          </a:xfrm>
          <a:prstGeom prst="rect">
            <a:avLst/>
          </a:prstGeom>
          <a:solidFill>
            <a:srgbClr val="A9B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8138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Arial"/>
              </a:rPr>
              <a:t>Your turn — Bug #4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54680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CD9FF"/>
                </a:solidFill>
                <a:latin typeface="Arial"/>
              </a:rPr>
              <a:t>"Stats: Completed this week always shows 0"  ·  same loop, you drive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THE TASK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135E"/>
                </a:solidFill>
                <a:latin typeface="Arial"/>
              </a:rPr>
              <a:t>Diagnose and fix it, test-first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0292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00" b="1">
                <a:solidFill>
                  <a:srgbClr val="403FE8"/>
                </a:solidFill>
                <a:latin typeface="Arial"/>
              </a:rPr>
              <a:t>•  </a:t>
            </a:r>
            <a:r>
              <a:rPr sz="1200">
                <a:solidFill>
                  <a:srgbClr val="434343"/>
                </a:solidFill>
                <a:latin typeface="Arial"/>
              </a:rPr>
              <a:t>Symptom: the dashboard's "Completed this week" stat stays at 0 — even after you complete todos.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00" b="1">
                <a:solidFill>
                  <a:srgbClr val="403FE8"/>
                </a:solidFill>
                <a:latin typeface="Arial"/>
              </a:rPr>
              <a:t>•  </a:t>
            </a:r>
            <a:r>
              <a:rPr sz="1200">
                <a:solidFill>
                  <a:srgbClr val="434343"/>
                </a:solidFill>
                <a:latin typeface="Arial"/>
              </a:rPr>
              <a:t>Where to look: server/src/services/stats.service.ts → summary().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200" b="1">
                <a:solidFill>
                  <a:srgbClr val="403FE8"/>
                </a:solidFill>
                <a:latin typeface="Arial"/>
              </a:rPr>
              <a:t>•  </a:t>
            </a:r>
            <a:r>
              <a:rPr sz="1200">
                <a:solidFill>
                  <a:srgbClr val="434343"/>
                </a:solidFill>
                <a:latin typeface="Arial"/>
              </a:rPr>
              <a:t>You diagnose the root cause — that's the exercise. Follow the same five-step loop.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1554480"/>
            <a:ext cx="2788920" cy="2743200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06440" y="1554480"/>
            <a:ext cx="64008" cy="274320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53328" y="175564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03FE8"/>
                </a:solidFill>
                <a:latin typeface="Arial"/>
              </a:rPr>
              <a:t>THE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53328" y="2148840"/>
            <a:ext cx="2395728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i="0">
                <a:solidFill>
                  <a:srgbClr val="13135E"/>
                </a:solidFill>
                <a:latin typeface="Arial"/>
              </a:rPr>
              <a:t>Reproduce → RED → Fix (Plan Mode) → GREEN → PR.
Start by making it fail in a test. The fix comes second.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1.b — Fixing Bugs, Test-First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HINTS &amp; ACCEPTANCE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135E"/>
                </a:solidFill>
                <a:latin typeface="Arial"/>
              </a:rPr>
              <a:t>Get unstuck without the answer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4892040" cy="2240280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4864" cy="224028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536192"/>
            <a:ext cx="4526280" cy="2002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Consolas"/>
              </a:rPr>
              <a:t>// stats.service.test.ts  (create it —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Consolas"/>
              </a:rPr>
              <a:t>//  no stats test exists yet)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beforeEach(() =&gt; { db = makeTestDb(); });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afterEach(() =&gt; db.cleanup());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it('counts todos done in last 7 days',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   () =&gt;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1">
                <a:solidFill>
                  <a:srgbClr val="403FE8"/>
                </a:solidFill>
                <a:latin typeface="Consolas"/>
              </a:rPr>
              <a:t>  todosService.complete('todo_a');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666666"/>
                </a:solidFill>
                <a:latin typeface="Consolas"/>
              </a:rPr>
              <a:t>  // ^ stamps completedAt = now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1">
                <a:solidFill>
                  <a:srgbClr val="403FE8"/>
                </a:solidFill>
                <a:latin typeface="Consolas"/>
              </a:rPr>
              <a:t>  // TODO: assert summary()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1">
                <a:solidFill>
                  <a:srgbClr val="403FE8"/>
                </a:solidFill>
                <a:latin typeface="Consolas"/>
              </a:rPr>
              <a:t>  //   .completedThisWeek is 1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});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3560" y="1463040"/>
            <a:ext cx="2971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03FE8"/>
                </a:solidFill>
                <a:latin typeface="Arial"/>
              </a:rPr>
              <a:t>REMEMBER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1828800"/>
            <a:ext cx="2971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000" b="1">
                <a:solidFill>
                  <a:srgbClr val="403FE8"/>
                </a:solidFill>
                <a:latin typeface="Arial"/>
              </a:rPr>
              <a:t>•  </a:t>
            </a:r>
            <a:r>
              <a:rPr sz="1000">
                <a:solidFill>
                  <a:srgbClr val="434343"/>
                </a:solidFill>
                <a:latin typeface="Arial"/>
              </a:rPr>
              <a:t>Complete a todo now — the fixture's done one is old, so it won't count this week.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000" b="1">
                <a:solidFill>
                  <a:srgbClr val="403FE8"/>
                </a:solidFill>
                <a:latin typeface="Arial"/>
              </a:rPr>
              <a:t>•  </a:t>
            </a:r>
            <a:r>
              <a:rPr sz="1000">
                <a:solidFill>
                  <a:srgbClr val="434343"/>
                </a:solidFill>
                <a:latin typeface="Arial"/>
              </a:rPr>
              <a:t>Watch it fail, then fix stats.service.ts.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000" b="1">
                <a:solidFill>
                  <a:srgbClr val="403FE8"/>
                </a:solidFill>
                <a:latin typeface="Arial"/>
              </a:rPr>
              <a:t>•  </a:t>
            </a:r>
            <a:r>
              <a:rPr sz="1000">
                <a:solidFill>
                  <a:srgbClr val="434343"/>
                </a:solidFill>
                <a:latin typeface="Arial"/>
              </a:rPr>
              <a:t>PR "Closes #4" + a reviewer.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49039"/>
            <a:ext cx="3977639" cy="868680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749039"/>
            <a:ext cx="50292" cy="86868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831335"/>
            <a:ext cx="368503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403FE8"/>
                </a:solidFill>
                <a:latin typeface="Arial"/>
              </a:rPr>
              <a:t>DIAGNOSE (SYMPTOM-FIRST)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050791"/>
            <a:ext cx="364845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434343"/>
                </a:solidFill>
                <a:latin typeface="Arial"/>
              </a:rPr>
              <a:t>"Completed this week" stays 0 after I complete todos — investigate summary() in @server/src/services/stats.service.ts. Don't fix yet.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17720" y="3749039"/>
            <a:ext cx="3977639" cy="868680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17720" y="3749039"/>
            <a:ext cx="50292" cy="86868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3831335"/>
            <a:ext cx="368503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403FE8"/>
                </a:solidFill>
                <a:latin typeface="Arial"/>
              </a:rPr>
              <a:t>WRITE THE TEST FIRST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4050791"/>
            <a:ext cx="364845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434343"/>
                </a:solidFill>
                <a:latin typeface="Arial"/>
              </a:rPr>
              <a:t>Create stats.service.test.ts (makeTestDb): complete a todo, then assert summary().completedThisWeek — make it fail first.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1.b — Fixing Bugs, Test-First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135E"/>
                </a:solidFill>
                <a:latin typeface="Arial"/>
              </a:rPr>
              <a:t>Let's compare a few fixes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7955279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250" b="1">
                <a:solidFill>
                  <a:srgbClr val="403FE8"/>
                </a:solidFill>
                <a:latin typeface="Arial"/>
              </a:rPr>
              <a:t>•  </a:t>
            </a:r>
            <a:r>
              <a:rPr sz="1250">
                <a:solidFill>
                  <a:srgbClr val="434343"/>
                </a:solidFill>
                <a:latin typeface="Arial"/>
              </a:rPr>
              <a:t>Did your test fail first? If it passed immediately, it wasn't really testing the bug.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250" b="1">
                <a:solidFill>
                  <a:srgbClr val="403FE8"/>
                </a:solidFill>
                <a:latin typeface="Arial"/>
              </a:rPr>
              <a:t>•  </a:t>
            </a:r>
            <a:r>
              <a:rPr sz="1250">
                <a:solidFill>
                  <a:srgbClr val="434343"/>
                </a:solidFill>
                <a:latin typeface="Arial"/>
              </a:rPr>
              <a:t>What was the root cause — and how did your test capture it?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250" b="1">
                <a:solidFill>
                  <a:srgbClr val="403FE8"/>
                </a:solidFill>
                <a:latin typeface="Arial"/>
              </a:rPr>
              <a:t>•  </a:t>
            </a:r>
            <a:r>
              <a:rPr sz="1250">
                <a:solidFill>
                  <a:srgbClr val="434343"/>
                </a:solidFill>
                <a:latin typeface="Arial"/>
              </a:rPr>
              <a:t>Did Claude's first attempt pass review, or did you course-correct? What did you catch?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250" b="1">
                <a:solidFill>
                  <a:srgbClr val="403FE8"/>
                </a:solidFill>
                <a:latin typeface="Arial"/>
              </a:rPr>
              <a:t>•  </a:t>
            </a:r>
            <a:r>
              <a:rPr sz="1250">
                <a:solidFill>
                  <a:srgbClr val="434343"/>
                </a:solidFill>
                <a:latin typeface="Arial"/>
              </a:rPr>
              <a:t>Did anything else go red? A good fix leaves the rest of the suite green.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250" b="1">
                <a:solidFill>
                  <a:srgbClr val="403FE8"/>
                </a:solidFill>
                <a:latin typeface="Arial"/>
              </a:rPr>
              <a:t>•  </a:t>
            </a:r>
            <a:r>
              <a:rPr sz="1250">
                <a:solidFill>
                  <a:srgbClr val="434343"/>
                </a:solidFill>
                <a:latin typeface="Arial"/>
              </a:rPr>
              <a:t>Compare two diffs on screen — same bug, different tests and fixes. What do we prefer, and why?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1.b — Fixing Bugs, Test-First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850605" cy="457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" y="1993392"/>
            <a:ext cx="457200" cy="64008"/>
          </a:xfrm>
          <a:prstGeom prst="rect">
            <a:avLst/>
          </a:prstGeom>
          <a:solidFill>
            <a:srgbClr val="A9B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8138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Arial"/>
              </a:rPr>
              <a:t>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63240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CD9FF"/>
                </a:solidFill>
                <a:latin typeface="Arial"/>
              </a:rPr>
              <a:t>Same rhythm — a different starting point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BUG VS. FEATURE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135E"/>
                </a:solidFill>
                <a:latin typeface="Arial"/>
              </a:rPr>
              <a:t>What changes, what stays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977639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3977639" cy="384048"/>
          </a:xfrm>
          <a:prstGeom prst="roundRect">
            <a:avLst>
              <a:gd name="adj" fmla="val 6000"/>
            </a:avLst>
          </a:prstGeom>
          <a:solidFill>
            <a:srgbClr val="131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270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BUG FIX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75104"/>
            <a:ext cx="36118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050" b="1">
                <a:solidFill>
                  <a:srgbClr val="403FE8"/>
                </a:solidFill>
                <a:latin typeface="Arial"/>
              </a:rPr>
              <a:t>•  </a:t>
            </a:r>
            <a:r>
              <a:rPr sz="1050">
                <a:solidFill>
                  <a:srgbClr val="434343"/>
                </a:solidFill>
                <a:latin typeface="Arial"/>
              </a:rPr>
              <a:t>Behavior already exists — but it's wrong.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050" b="1">
                <a:solidFill>
                  <a:srgbClr val="403FE8"/>
                </a:solidFill>
                <a:latin typeface="Arial"/>
              </a:rPr>
              <a:t>•  </a:t>
            </a:r>
            <a:r>
              <a:rPr sz="1050">
                <a:solidFill>
                  <a:srgbClr val="434343"/>
                </a:solidFill>
                <a:latin typeface="Arial"/>
              </a:rPr>
              <a:t>The test reproduces the defect, then pins the correction.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1463040"/>
            <a:ext cx="3977639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17720" y="1463040"/>
            <a:ext cx="3977639" cy="384048"/>
          </a:xfrm>
          <a:prstGeom prst="roundRect">
            <a:avLst>
              <a:gd name="adj" fmla="val 6000"/>
            </a:avLst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15270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FEATURE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1975104"/>
            <a:ext cx="36118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050" b="1">
                <a:solidFill>
                  <a:srgbClr val="403FE8"/>
                </a:solidFill>
                <a:latin typeface="Arial"/>
              </a:rPr>
              <a:t>•  </a:t>
            </a:r>
            <a:r>
              <a:rPr sz="1050">
                <a:solidFill>
                  <a:srgbClr val="434343"/>
                </a:solidFill>
                <a:latin typeface="Arial"/>
              </a:rPr>
              <a:t>Behavior doesn't exist yet.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050" b="1">
                <a:solidFill>
                  <a:srgbClr val="403FE8"/>
                </a:solidFill>
                <a:latin typeface="Arial"/>
              </a:rPr>
              <a:t>•  </a:t>
            </a:r>
            <a:r>
              <a:rPr sz="1050">
                <a:solidFill>
                  <a:srgbClr val="434343"/>
                </a:solidFill>
                <a:latin typeface="Arial"/>
              </a:rPr>
              <a:t>The test specifies the new behavior — it fails until you build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11880"/>
            <a:ext cx="8046720" cy="777240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611880"/>
            <a:ext cx="64008" cy="77724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12463"/>
            <a:ext cx="76809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13135E"/>
                </a:solidFill>
                <a:latin typeface="Arial"/>
              </a:rPr>
              <a:t>Same rhythm either way: write the test first → let it drive the change with Claude → verify green → PR + review. The test drives; only the starting point differs.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1.b — Fixing Bugs, Test-First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FEATURE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135E"/>
                </a:solidFill>
                <a:latin typeface="Arial"/>
              </a:rPr>
              <a:t>Sort todos by due 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45720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50" b="1">
                <a:solidFill>
                  <a:srgbClr val="403FE8"/>
                </a:solidFill>
                <a:latin typeface="Arial"/>
              </a:rPr>
              <a:t>1.  </a:t>
            </a:r>
            <a:r>
              <a:rPr sz="1050">
                <a:solidFill>
                  <a:srgbClr val="434343"/>
                </a:solidFill>
                <a:latin typeface="Arial"/>
              </a:rPr>
              <a:t>Spec it in the type: add 'dueDate' to TodoQuery.sort (shared/src/types.ts).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50" b="1">
                <a:solidFill>
                  <a:srgbClr val="403FE8"/>
                </a:solidFill>
                <a:latin typeface="Arial"/>
              </a:rPr>
              <a:t>2.  </a:t>
            </a:r>
            <a:r>
              <a:rPr sz="1050">
                <a:solidFill>
                  <a:srgbClr val="434343"/>
                </a:solidFill>
                <a:latin typeface="Arial"/>
              </a:rPr>
              <a:t>Test first: list({ sort: 'dueDate' }) returns due-date order, undated last.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50" b="1">
                <a:solidFill>
                  <a:srgbClr val="403FE8"/>
                </a:solidFill>
                <a:latin typeface="Arial"/>
              </a:rPr>
              <a:t>3.  </a:t>
            </a:r>
            <a:r>
              <a:rPr sz="1050">
                <a:solidFill>
                  <a:srgbClr val="434343"/>
                </a:solidFill>
                <a:latin typeface="Arial"/>
              </a:rPr>
              <a:t>Implement the sort branch in todos.service.ts (createdAt only today).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50" b="1">
                <a:solidFill>
                  <a:srgbClr val="403FE8"/>
                </a:solidFill>
                <a:latin typeface="Arial"/>
              </a:rPr>
              <a:t>4.  </a:t>
            </a:r>
            <a:r>
              <a:rPr sz="1050">
                <a:solidFill>
                  <a:srgbClr val="434343"/>
                </a:solidFill>
                <a:latin typeface="Arial"/>
              </a:rPr>
              <a:t>Add a sort selector in TodoFilterBar.tsx.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050" b="1">
                <a:solidFill>
                  <a:srgbClr val="403FE8"/>
                </a:solidFill>
                <a:latin typeface="Arial"/>
              </a:rPr>
              <a:t>5.  </a:t>
            </a:r>
            <a:r>
              <a:rPr sz="1050">
                <a:solidFill>
                  <a:srgbClr val="434343"/>
                </a:solidFill>
                <a:latin typeface="Arial"/>
              </a:rPr>
              <a:t>Verify green, then PR "Closes #" the feature issue.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463040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03FE8"/>
                </a:solidFill>
                <a:latin typeface="Arial"/>
              </a:rPr>
              <a:t>THE TEST LEADS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1783080"/>
            <a:ext cx="3291840" cy="1417320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0" y="1783080"/>
            <a:ext cx="54864" cy="141732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04688" y="1901952"/>
            <a:ext cx="2926080" cy="1179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it('sorts by due date,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   undated last', () =&gt;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  const { todos } =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    todosService.list({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1">
                <a:solidFill>
                  <a:srgbClr val="403FE8"/>
                </a:solidFill>
                <a:latin typeface="Consolas"/>
              </a:rPr>
              <a:t>      sort: 'dueDate' });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1">
                <a:solidFill>
                  <a:srgbClr val="403FE8"/>
                </a:solidFill>
                <a:latin typeface="Consolas"/>
              </a:rPr>
              <a:t>  expect(todos[0].id)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1">
                <a:solidFill>
                  <a:srgbClr val="403FE8"/>
                </a:solidFill>
                <a:latin typeface="Consolas"/>
              </a:rPr>
              <a:t>    .toBe('todo_b');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850" b="0">
                <a:solidFill>
                  <a:srgbClr val="434343"/>
                </a:solidFill>
                <a:latin typeface="Consolas"/>
              </a:rPr>
              <a:t>});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3977639" cy="822960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50292" cy="82296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922776"/>
            <a:ext cx="368503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403FE8"/>
                </a:solidFill>
                <a:latin typeface="Arial"/>
              </a:rPr>
              <a:t>INTERVIEW / PLAN-FIRST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42232"/>
            <a:ext cx="3648455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434343"/>
                </a:solidFill>
                <a:latin typeface="Arial"/>
              </a:rPr>
              <a:t>Before coding, interview me on edge cases (no due date, direction) and propose the plan across the shared type, service, and filter bar.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17720" y="3840480"/>
            <a:ext cx="3977639" cy="822960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17720" y="3840480"/>
            <a:ext cx="50292" cy="82296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3922776"/>
            <a:ext cx="368503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403FE8"/>
                </a:solidFill>
                <a:latin typeface="Arial"/>
              </a:rPr>
              <a:t>EXPLICIT TEST-FIRST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4142232"/>
            <a:ext cx="3648455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 i="0">
                <a:solidFill>
                  <a:srgbClr val="434343"/>
                </a:solidFill>
                <a:latin typeface="Arial"/>
              </a:rPr>
              <a:t>Add 'dueDate' to TodoQuery.sort in @shared/src/types.ts, then a failing test that list({sort:'dueDate'}) orders by due date (undated last) before implementing.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1.b — Fixing Bugs, Test-First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403FE8"/>
                </a:solidFill>
                <a:latin typeface="Arial"/>
              </a:rPr>
              <a:t>REFERENCE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3135E"/>
                </a:solidFill>
                <a:latin typeface="Arial"/>
              </a:rPr>
              <a:t>Prompt starters — keep these handy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8046720" cy="512064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8288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03FE8"/>
                </a:solidFill>
                <a:latin typeface="Arial"/>
              </a:rPr>
              <a:t>Reproduce / diagnose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463040"/>
            <a:ext cx="57607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34343"/>
                </a:solidFill>
                <a:latin typeface="Arial"/>
              </a:rPr>
              <a:t>Run the failing test with npx vitest run &lt;file&gt;; then trace the code and tell me the root cause before changing anything.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39112"/>
            <a:ext cx="8046720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39112"/>
            <a:ext cx="18288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03FE8"/>
                </a:solidFill>
                <a:latin typeface="Arial"/>
              </a:rPr>
              <a:t>Write the failing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039112"/>
            <a:ext cx="57607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34343"/>
                </a:solidFill>
                <a:latin typeface="Arial"/>
              </a:rPr>
              <a:t>Add a Vitest test in the co-located *.test.ts (makeTestDb) that captures the correct behavior; run it and show it red.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615184"/>
            <a:ext cx="8046720" cy="512064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15184"/>
            <a:ext cx="18288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03FE8"/>
                </a:solidFill>
                <a:latin typeface="Arial"/>
              </a:rPr>
              <a:t>Fix — minimal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2615184"/>
            <a:ext cx="57607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34343"/>
                </a:solidFill>
                <a:latin typeface="Arial"/>
              </a:rPr>
              <a:t>Make the minimal change to pass the failing test. Don't refactor anything else. Then run npm test -w server.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191256"/>
            <a:ext cx="8046720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191256"/>
            <a:ext cx="18288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03FE8"/>
                </a:solidFill>
                <a:latin typeface="Arial"/>
              </a:rPr>
              <a:t>Fix — Plan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3191256"/>
            <a:ext cx="57607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34343"/>
                </a:solidFill>
                <a:latin typeface="Arial"/>
              </a:rPr>
              <a:t>In Plan Mode: propose the smallest fix; show me the plan before editing.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767328"/>
            <a:ext cx="8046720" cy="512064"/>
          </a:xfrm>
          <a:prstGeom prst="roundRect">
            <a:avLst>
              <a:gd name="adj" fmla="val 6000"/>
            </a:avLst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767328"/>
            <a:ext cx="18288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03FE8"/>
                </a:solidFill>
                <a:latin typeface="Arial"/>
              </a:rPr>
              <a:t>Verify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3767328"/>
            <a:ext cx="57607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34343"/>
                </a:solidFill>
                <a:latin typeface="Arial"/>
              </a:rPr>
              <a:t>Run npm test -w server, then the full suite + lint + typecheck. Add a comment on the test noting the bug it prevents.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66666"/>
                </a:solidFill>
                <a:latin typeface="Arial"/>
              </a:rPr>
              <a:t>Swap in your paths. Describe symptoms · @-reference real files · end with "run the tests."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99999"/>
                </a:solidFill>
                <a:latin typeface="Arial"/>
              </a:rPr>
              <a:t>FSL AI Training · Lab 1.b — Fixing Bugs, Test-First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850605" cy="457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" y="1490472"/>
            <a:ext cx="457200" cy="64008"/>
          </a:xfrm>
          <a:prstGeom prst="rect">
            <a:avLst/>
          </a:prstGeom>
          <a:solidFill>
            <a:srgbClr val="A9B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8138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Arial"/>
              </a:rPr>
              <a:t>The loop is the takeaway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79552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Reproduce → RED → Fix (Plan Mode) → GREEN → PR &amp; review.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54680"/>
            <a:ext cx="79552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CCD9FF"/>
                </a:solidFill>
                <a:latin typeface="Arial"/>
              </a:rPr>
              <a:t>Ship checklist: a new test that failed first and now passes · full suite, lint &amp; typecheck green · branch fix/&lt;slug&gt; · PR "Closes #N" · one human reviewer · CI green.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389120"/>
            <a:ext cx="79552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A9B7F7"/>
                </a:solidFill>
                <a:latin typeface="Arial"/>
              </a:rPr>
              <a:t>Questions &amp; support: #extra-duty-solutions-ai-training on Slack — or ask your instructor.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11480"/>
            <a:ext cx="713741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457200"/>
            <a:ext cx="237744" cy="50292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02336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403FE8"/>
                </a:solidFill>
                <a:latin typeface="Arial"/>
              </a:rPr>
              <a:t>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76656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3135E"/>
                </a:solidFill>
                <a:latin typeface="Arial"/>
              </a:rPr>
              <a:t>Install your tooling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34343"/>
                </a:solidFill>
                <a:latin typeface="Arial"/>
              </a:rPr>
              <a:t>One-time, before lab day — macOS via Homebrew, Windows via winget.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46320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999999"/>
                </a:solidFill>
                <a:latin typeface="Arial"/>
              </a:rPr>
              <a:t>FSL AI Training · Lab 1.b — Fixing Bugs, Test-First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8046720" cy="320040"/>
          </a:xfrm>
          <a:prstGeom prst="roundRect">
            <a:avLst/>
          </a:prstGeom>
          <a:solidFill>
            <a:srgbClr val="131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773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Arial"/>
              </a:rPr>
              <a:t>Tool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1577340"/>
            <a:ext cx="301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Arial"/>
              </a:rPr>
              <a:t>macOS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1577340"/>
            <a:ext cx="301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Arial"/>
              </a:rPr>
              <a:t>Windows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920240"/>
            <a:ext cx="8046720" cy="393192"/>
          </a:xfrm>
          <a:prstGeom prst="roundRect">
            <a:avLst/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9812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3135E"/>
                </a:solidFill>
                <a:latin typeface="Arial"/>
              </a:rPr>
              <a:t>Git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1981200"/>
            <a:ext cx="301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34343"/>
                </a:solidFill>
                <a:latin typeface="Consolas"/>
              </a:rPr>
              <a:t>xcode-select --install</a:t>
            </a:r>
            <a:r>
              <a:rPr sz="900" b="0">
                <a:solidFill>
                  <a:srgbClr val="999999"/>
                </a:solidFill>
                <a:latin typeface="Arial"/>
              </a:rPr>
              <a:t>  · or brew install git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1981200"/>
            <a:ext cx="301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34343"/>
                </a:solidFill>
                <a:latin typeface="Consolas"/>
              </a:rPr>
              <a:t>winget install Git.Git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331720"/>
            <a:ext cx="8046720" cy="39319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3926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3135E"/>
                </a:solidFill>
                <a:latin typeface="Arial"/>
              </a:rPr>
              <a:t>nvm (Node manager)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2392680"/>
            <a:ext cx="301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34343"/>
                </a:solidFill>
                <a:latin typeface="Consolas"/>
              </a:rPr>
              <a:t>brew install nvm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2392680"/>
            <a:ext cx="301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34343"/>
                </a:solidFill>
                <a:latin typeface="Consolas"/>
              </a:rPr>
              <a:t>winget install CoreyButler.NVMforWindows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743200"/>
            <a:ext cx="8046720" cy="393192"/>
          </a:xfrm>
          <a:prstGeom prst="roundRect">
            <a:avLst/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8041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3135E"/>
                </a:solidFill>
                <a:latin typeface="Arial"/>
              </a:rPr>
              <a:t>Node LTS ≥ 20.19 + npm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2804160"/>
            <a:ext cx="301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34343"/>
                </a:solidFill>
                <a:latin typeface="Consolas"/>
              </a:rPr>
              <a:t>nvm install 20 &amp;&amp; nvm 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2804160"/>
            <a:ext cx="301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34343"/>
                </a:solidFill>
                <a:latin typeface="Consolas"/>
              </a:rPr>
              <a:t>nvm install 20 &amp;&amp; nvm use 20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154680"/>
            <a:ext cx="8046720" cy="39319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2156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3135E"/>
                </a:solidFill>
                <a:latin typeface="Arial"/>
              </a:rPr>
              <a:t>GitHub CLI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3215640"/>
            <a:ext cx="301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34343"/>
                </a:solidFill>
                <a:latin typeface="Consolas"/>
              </a:rPr>
              <a:t>brew install gh</a:t>
            </a:r>
            <a:r>
              <a:rPr sz="900" b="0">
                <a:solidFill>
                  <a:srgbClr val="999999"/>
                </a:solidFill>
                <a:latin typeface="Arial"/>
              </a:rPr>
              <a:t>  → gh auth login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3215640"/>
            <a:ext cx="301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34343"/>
                </a:solidFill>
                <a:latin typeface="Consolas"/>
              </a:rPr>
              <a:t>winget install GitHub.cli</a:t>
            </a:r>
            <a:r>
              <a:rPr sz="900" b="0">
                <a:solidFill>
                  <a:srgbClr val="999999"/>
                </a:solidFill>
                <a:latin typeface="Arial"/>
              </a:rPr>
              <a:t>  → gh auth login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566160"/>
            <a:ext cx="8046720" cy="393192"/>
          </a:xfrm>
          <a:prstGeom prst="roundRect">
            <a:avLst/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6271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3135E"/>
                </a:solidFill>
                <a:latin typeface="Arial"/>
              </a:rPr>
              <a:t>Claude Code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3627120"/>
            <a:ext cx="301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34343"/>
                </a:solidFill>
                <a:latin typeface="Consolas"/>
              </a:rPr>
              <a:t>curl -fsSL https://claude.ai/install.sh | bash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3627120"/>
            <a:ext cx="301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34343"/>
                </a:solidFill>
                <a:latin typeface="Consolas"/>
              </a:rPr>
              <a:t>irm https://claude.ai/install.ps1 | iex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3977640"/>
            <a:ext cx="8046720" cy="39319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CD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0386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3135E"/>
                </a:solidFill>
                <a:latin typeface="Arial"/>
              </a:rPr>
              <a:t>VS Code (or your editor)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77440" y="4038600"/>
            <a:ext cx="301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34343"/>
                </a:solidFill>
                <a:latin typeface="Consolas"/>
              </a:rPr>
              <a:t>brew install --cask visual-studio-code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4038600"/>
            <a:ext cx="301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434343"/>
                </a:solidFill>
                <a:latin typeface="Consolas"/>
              </a:rPr>
              <a:t>winget install Microsoft.VisualStudioCode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4404360"/>
            <a:ext cx="8046720" cy="396240"/>
          </a:xfrm>
          <a:prstGeom prst="roundRect">
            <a:avLst/>
          </a:prstGeom>
          <a:solidFill>
            <a:srgbClr val="E2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4404360"/>
            <a:ext cx="64008" cy="396240"/>
          </a:xfrm>
          <a:prstGeom prst="rect">
            <a:avLst/>
          </a:prstGeom>
          <a:solidFill>
            <a:srgbClr val="403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4424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403FE8"/>
                </a:solidFill>
                <a:latin typeface="Arial"/>
              </a:rPr>
              <a:t>ACCOUNTS   </a:t>
            </a:r>
            <a:r>
              <a:rPr sz="850" b="0">
                <a:solidFill>
                  <a:srgbClr val="434343"/>
                </a:solidFill>
                <a:latin typeface="Arial"/>
              </a:rPr>
              <a:t>GitHub account + Claude Code seat (EDS-provisioned) — confirm both logins before lab day.</a:t>
            </a:r>
          </a:p>
          <a:p>
            <a:r>
              <a:rPr sz="850" b="1">
                <a:solidFill>
                  <a:srgbClr val="403FE8"/>
                </a:solidFill>
                <a:latin typeface="Arial"/>
              </a:rPr>
              <a:t>VERIFY   </a:t>
            </a:r>
            <a:r>
              <a:rPr sz="850" b="0">
                <a:solidFill>
                  <a:srgbClr val="434343"/>
                </a:solidFill>
                <a:latin typeface="Consolas"/>
              </a:rPr>
              <a:t>git --version · node --version (≥ 20.19) · gh auth status · claude --version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